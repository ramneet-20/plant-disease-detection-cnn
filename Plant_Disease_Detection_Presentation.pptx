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A5910-95AD-4BD4-9749-2E2B0AD4F6E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57B25-219D-4190-81E0-D96C0BD9BD5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457B25-219D-4190-81E0-D96C0BD9BD5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41080" y="594360"/>
            <a:ext cx="1920240" cy="1920240"/>
          </a:xfrm>
          <a:prstGeom prst="ellipse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1920240"/>
            <a:ext cx="1417320" cy="1417320"/>
          </a:xfrm>
          <a:prstGeom prst="ellipse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52760" y="1296955"/>
            <a:ext cx="914400" cy="914400"/>
          </a:xfrm>
          <a:prstGeom prst="ellipse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4561" y="1920240"/>
            <a:ext cx="7498079" cy="176253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1F3D2F"/>
                </a:solidFill>
                <a:latin typeface="Aptos"/>
              </a:defRPr>
            </a:pPr>
            <a:r>
              <a:rPr lang="en-US" sz="2800" dirty="0" smtClean="0"/>
              <a:t>Project</a:t>
            </a:r>
          </a:p>
          <a:p>
            <a:pPr algn="ctr">
              <a:spcAft>
                <a:spcPts val="800"/>
              </a:spcAft>
              <a:defRPr sz="3800" b="1">
                <a:solidFill>
                  <a:srgbClr val="1F3D2F"/>
                </a:solidFill>
                <a:latin typeface="Aptos"/>
              </a:defRPr>
            </a:pPr>
            <a:r>
              <a:rPr lang="en-US" sz="2800" dirty="0" smtClean="0"/>
              <a:t>on</a:t>
            </a:r>
          </a:p>
          <a:p>
            <a:pPr algn="ctr">
              <a:spcAft>
                <a:spcPts val="800"/>
              </a:spcAft>
              <a:defRPr sz="3800" b="1">
                <a:solidFill>
                  <a:srgbClr val="1F3D2F"/>
                </a:solidFill>
                <a:latin typeface="Aptos"/>
              </a:defRPr>
            </a:pPr>
            <a:r>
              <a:rPr smtClean="0">
                <a:solidFill>
                  <a:schemeClr val="tx2">
                    <a:lumMod val="75000"/>
                  </a:schemeClr>
                </a:solidFill>
              </a:rPr>
              <a:t>Plant Disease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smtClean="0">
                <a:solidFill>
                  <a:schemeClr val="tx2">
                    <a:lumMod val="75000"/>
                  </a:schemeClr>
                </a:solidFill>
              </a:rPr>
              <a:t>Detection</a:t>
            </a:r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19728" y="5336558"/>
            <a:ext cx="5725886" cy="15214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Submitted By:</a:t>
            </a:r>
          </a:p>
          <a:p>
            <a:pPr algn="r"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Rajshree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Sisodiya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(230252)</a:t>
            </a:r>
          </a:p>
          <a:p>
            <a:pPr algn="r"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Ramneet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Kaur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(230253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algn="r"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B.Tech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CSE (AI/DL)</a:t>
            </a:r>
          </a:p>
          <a:p>
            <a:pPr algn="r"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4th Year</a:t>
            </a:r>
            <a:endParaRPr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338" name="Picture 2" descr="Mody University of Science and Technology logo | Science and technology ..."/>
          <p:cNvPicPr>
            <a:picLocks noChangeAspect="1" noChangeArrowheads="1"/>
          </p:cNvPicPr>
          <p:nvPr/>
        </p:nvPicPr>
        <p:blipFill>
          <a:blip r:embed="rId3"/>
          <a:srcRect l="18864" t="30469" r="21401" b="27422"/>
          <a:stretch>
            <a:fillRect/>
          </a:stretch>
        </p:blipFill>
        <p:spPr bwMode="auto">
          <a:xfrm>
            <a:off x="158620" y="91439"/>
            <a:ext cx="2239865" cy="1662716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5336558"/>
            <a:ext cx="3676261" cy="595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Submitted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To: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Mr. 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Aayush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Chand</a:t>
            </a:r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rPr lang="en-US" dirty="0" smtClean="0"/>
              <a:t>Introduction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6400800" cy="34747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03933"/>
                </a:solidFill>
                <a:latin typeface="Aptos"/>
              </a:defRPr>
            </a:pPr>
            <a:r>
              <a:t>This project trains a deep-learning model to recognize plant health conditions from leaf photographs. It uses a labelled PlantVillage image dataset, prepares images at a consistent size, and trains a CNN to classify each image into one of 38 categories. The notebook evaluates the saved model on a separate test split and exports the model and class names for later use in an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737360"/>
            <a:ext cx="73152" cy="105156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8" y="1883664"/>
            <a:ext cx="312724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340864"/>
            <a:ext cx="3108960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54,304 labelled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97180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971800"/>
            <a:ext cx="73152" cy="105156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3118104"/>
            <a:ext cx="312724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575304"/>
            <a:ext cx="3108960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38 plant/disease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20624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4206240"/>
            <a:ext cx="73152" cy="105156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4352544"/>
            <a:ext cx="312724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Test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809744"/>
            <a:ext cx="3108960" cy="3383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87.58% test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347472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481888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95144"/>
            <a:ext cx="4800600" cy="2761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303933"/>
                </a:solidFill>
                <a:latin typeface="Aptos"/>
              </a:defRPr>
            </a:pPr>
            <a:r>
              <a:t>Plant diseases can reduce crop quality and yield. Visual inspection can be slow and may depend on the observer’s experience. A computer-vision model can help classify leaf images consistently and support an early screening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73152" cy="347472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837944"/>
            <a:ext cx="481888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95144"/>
            <a:ext cx="4800600" cy="2761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3933"/>
                </a:solidFill>
                <a:latin typeface="Aptos"/>
              </a:defRPr>
            </a:pPr>
            <a:r>
              <a:t>• Build a supervised image-classification pipeline</a:t>
            </a:r>
          </a:p>
          <a:p>
            <a:pPr>
              <a:spcAft>
                <a:spcPts val="800"/>
              </a:spcAft>
              <a:defRPr sz="1700" b="0">
                <a:solidFill>
                  <a:srgbClr val="303933"/>
                </a:solidFill>
                <a:latin typeface="Aptos"/>
              </a:defRPr>
            </a:pPr>
            <a:r>
              <a:t>• Train a CNN using labelled leaf images</a:t>
            </a:r>
          </a:p>
          <a:p>
            <a:pPr>
              <a:spcAft>
                <a:spcPts val="800"/>
              </a:spcAft>
              <a:defRPr sz="1700" b="0">
                <a:solidFill>
                  <a:srgbClr val="303933"/>
                </a:solidFill>
                <a:latin typeface="Aptos"/>
              </a:defRPr>
            </a:pPr>
            <a:r>
              <a:t>• Measure performance on unseen test images</a:t>
            </a:r>
          </a:p>
          <a:p>
            <a:pPr>
              <a:spcAft>
                <a:spcPts val="800"/>
              </a:spcAft>
              <a:defRPr sz="1700" b="0">
                <a:solidFill>
                  <a:srgbClr val="303933"/>
                </a:solidFill>
                <a:latin typeface="Aptos"/>
              </a:defRPr>
            </a:pPr>
            <a:r>
              <a:t>• Save the trained model and class-label order for reuse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Dataset &amp; Data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4864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37D4E"/>
                </a:solidFill>
                <a:latin typeface="Aptos"/>
              </a:defRPr>
            </a:pPr>
            <a:r>
              <a:t>Source: geraldmc/plantvillage-full (Hugging Face Datasets)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73152" cy="137160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78024"/>
            <a:ext cx="289864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Total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35224"/>
            <a:ext cx="2880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303933"/>
                </a:solidFill>
                <a:latin typeface="Aptos"/>
              </a:defRPr>
            </a:pPr>
            <a:r>
              <a:t>54,304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3172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331720"/>
            <a:ext cx="73152" cy="137160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2478024"/>
            <a:ext cx="289864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935224"/>
            <a:ext cx="2880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303933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31720"/>
            <a:ext cx="3246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331720"/>
            <a:ext cx="73152" cy="137160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2478024"/>
            <a:ext cx="289864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Input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935224"/>
            <a:ext cx="288036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303933"/>
                </a:solidFill>
                <a:latin typeface="Aptos"/>
              </a:defRPr>
            </a:pPr>
            <a:r>
              <a:t>128 × 128 RGB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47068"/>
                </a:solidFill>
                <a:latin typeface="Aptos"/>
              </a:defRPr>
            </a:pPr>
            <a:r>
              <a:t>DATASET SPLIT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709160"/>
            <a:ext cx="7168745" cy="420624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184648"/>
            <a:ext cx="716874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3933"/>
                </a:solidFill>
                <a:latin typeface="Aptos"/>
              </a:defRPr>
            </a:pPr>
            <a:r>
              <a:t>Training: 38,012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425" y="4709160"/>
            <a:ext cx="1536267" cy="420624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37425" y="5184648"/>
            <a:ext cx="1536267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3933"/>
                </a:solidFill>
                <a:latin typeface="Aptos"/>
              </a:defRPr>
            </a:pPr>
            <a:r>
              <a:t>Validation: 8,146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73692" y="4709160"/>
            <a:ext cx="1536267" cy="420624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73692" y="5184648"/>
            <a:ext cx="1536267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3933"/>
                </a:solidFill>
                <a:latin typeface="Aptos"/>
              </a:defRPr>
            </a:pPr>
            <a:r>
              <a:t>Testing: 8,146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47068"/>
                </a:solidFill>
                <a:latin typeface="Aptos"/>
              </a:defRPr>
            </a:pPr>
            <a:r>
              <a:t>Split used in notebook: 70% training, 15% validation, 15% testing.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Image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331720"/>
            <a:ext cx="548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7D4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788920"/>
            <a:ext cx="1645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D2F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37560"/>
            <a:ext cx="164592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Read labelled images from the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926080"/>
            <a:ext cx="274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82112" y="2331720"/>
            <a:ext cx="548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7D4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788920"/>
            <a:ext cx="1645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D2F"/>
                </a:solidFill>
                <a:latin typeface="Aptos"/>
              </a:defRPr>
            </a:pPr>
            <a:r>
              <a:t>Convert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3337560"/>
            <a:ext cx="164592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Convert each image to RGB.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2926080"/>
            <a:ext cx="274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68112" y="2331720"/>
            <a:ext cx="548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7D4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788920"/>
            <a:ext cx="1645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D2F"/>
                </a:solidFill>
                <a:latin typeface="Aptos"/>
              </a:defRPr>
            </a:pPr>
            <a:r>
              <a:t>Resize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337560"/>
            <a:ext cx="164592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Resize every image to 128 × 128 pixels.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926080"/>
            <a:ext cx="274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54112" y="2331720"/>
            <a:ext cx="548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7D4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2788920"/>
            <a:ext cx="1645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D2F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3337560"/>
            <a:ext cx="164592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Convert pixel values to floats between 0 and 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926080"/>
            <a:ext cx="274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2148840"/>
            <a:ext cx="19659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40112" y="2331720"/>
            <a:ext cx="548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437D4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788920"/>
            <a:ext cx="1645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D2F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3337560"/>
            <a:ext cx="164592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Group images into batches of 32 for TensorFlow.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100584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47068"/>
                </a:solidFill>
                <a:latin typeface="Aptos"/>
              </a:defRPr>
            </a:pPr>
            <a:r>
              <a:t>Training images are shuffled; validation and test data are kept separate from training.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Technologies &amp;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137160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95144"/>
            <a:ext cx="3063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3933"/>
                </a:solidFill>
                <a:latin typeface="Aptos"/>
              </a:defRPr>
            </a:pPr>
            <a:r>
              <a:t>Core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0" y="1691640"/>
            <a:ext cx="73152" cy="137160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18379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TensorFlow / Keras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295144"/>
            <a:ext cx="3063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3933"/>
                </a:solidFill>
                <a:latin typeface="Aptos"/>
              </a:defRPr>
            </a:pPr>
            <a:r>
              <a:t>CNN model, training and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6916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66760" y="1691640"/>
            <a:ext cx="73152" cy="137160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18379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Hugging Face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2295144"/>
            <a:ext cx="3063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3933"/>
                </a:solidFill>
                <a:latin typeface="Aptos"/>
              </a:defRPr>
            </a:pPr>
            <a:r>
              <a:t>Loading the PlantVillage 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520440"/>
            <a:ext cx="73152" cy="137160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6667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123944"/>
            <a:ext cx="3063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3933"/>
                </a:solidFill>
                <a:latin typeface="Aptos"/>
              </a:defRPr>
            </a:pPr>
            <a:r>
              <a:t>Image arrays and numeric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204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20440"/>
            <a:ext cx="73152" cy="137160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3168" y="36667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123944"/>
            <a:ext cx="3063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3933"/>
                </a:solidFill>
                <a:latin typeface="Aptos"/>
              </a:defRPr>
            </a:pPr>
            <a:r>
              <a:t>Accuracy and loss plots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520440"/>
            <a:ext cx="3429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760" y="3520440"/>
            <a:ext cx="73152" cy="137160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67928" y="36667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JSON / ZIP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4123944"/>
            <a:ext cx="3063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303933"/>
                </a:solidFill>
                <a:latin typeface="Aptos"/>
              </a:defRPr>
            </a:pPr>
            <a:r>
              <a:t>Saving class labels and packaging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CNN 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128 × 128 ×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2011680" cy="960120"/>
          </a:xfrm>
          <a:prstGeom prst="roundRect">
            <a:avLst/>
          </a:prstGeom>
          <a:solidFill>
            <a:srgbClr val="E5EFE0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93852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Conv2D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67712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32 filters + ReLU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93852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Max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267712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Reduce spatial 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19" y="1828800"/>
            <a:ext cx="2011680" cy="960120"/>
          </a:xfrm>
          <a:prstGeom prst="roundRect">
            <a:avLst/>
          </a:prstGeom>
          <a:solidFill>
            <a:srgbClr val="E5EFE0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59" y="193852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Conv2D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267712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64 filters + ReLU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18288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12680" y="193852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Max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2267712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Reduce spatial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2011680" cy="960120"/>
          </a:xfrm>
          <a:prstGeom prst="roundRect">
            <a:avLst/>
          </a:prstGeom>
          <a:solidFill>
            <a:srgbClr val="E5EFE0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35584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Conv2D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85031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128 filters + 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79" y="324612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335584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Global Avg 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685031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Summarize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3246120"/>
            <a:ext cx="2011680" cy="960120"/>
          </a:xfrm>
          <a:prstGeom prst="roundRect">
            <a:avLst/>
          </a:prstGeom>
          <a:solidFill>
            <a:srgbClr val="E5EFE0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335584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Dense + Dropout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685031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128 units; dropout 0.4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19" y="324612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59" y="3355848"/>
            <a:ext cx="1828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Softmax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59" y="3685031"/>
            <a:ext cx="1828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303933"/>
                </a:solidFill>
                <a:latin typeface="Aptos"/>
              </a:defRPr>
            </a:pPr>
            <a:r>
              <a:t>38 class probabilities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68"/>
                </a:solidFill>
                <a:latin typeface="Aptos"/>
              </a:defRPr>
            </a:pPr>
            <a:r>
              <a:t>Model size in the notebook: 114,662 trainable parameters. Softmax returns a score for each of the 38 classes.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141732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Data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95144"/>
            <a:ext cx="3063240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03933"/>
                </a:solidFill>
                <a:latin typeface="Aptos"/>
              </a:defRPr>
            </a:pPr>
            <a:r>
              <a:t>Random horizontal flip, rotation (0.1) and zoom (0.1) add variety to training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73152" cy="141732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8379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95144"/>
            <a:ext cx="3063240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03933"/>
                </a:solidFill>
                <a:latin typeface="Aptos"/>
              </a:defRPr>
            </a:pPr>
            <a:r>
              <a:t>Adam optimizer with sparse categorical cross-entropy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916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91640"/>
            <a:ext cx="73152" cy="141732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837944"/>
            <a:ext cx="30815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Training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95144"/>
            <a:ext cx="3063240" cy="7040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03933"/>
                </a:solidFill>
                <a:latin typeface="Aptos"/>
              </a:defRPr>
            </a:pPr>
            <a:r>
              <a:t>Up to 12 epochs; early stopping and best-model checkpoint based on validation loss.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49039"/>
            <a:ext cx="100584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Training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43400"/>
            <a:ext cx="2331720" cy="731520"/>
          </a:xfrm>
          <a:prstGeom prst="roundRect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507992"/>
            <a:ext cx="21854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F3D2F"/>
                </a:solidFill>
                <a:latin typeface="Aptos"/>
              </a:defRPr>
            </a:pPr>
            <a:r>
              <a:t>Training batches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4526280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343400"/>
            <a:ext cx="2331720" cy="731520"/>
          </a:xfrm>
          <a:prstGeom prst="roundRect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4507992"/>
            <a:ext cx="21854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F3D2F"/>
                </a:solidFill>
                <a:latin typeface="Aptos"/>
              </a:defRPr>
            </a:pPr>
            <a:r>
              <a:t>CNN learns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608" y="4526280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343400"/>
            <a:ext cx="2331720" cy="731520"/>
          </a:xfrm>
          <a:prstGeom prst="roundRect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9672" y="4507992"/>
            <a:ext cx="21854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F3D2F"/>
                </a:solidFill>
                <a:latin typeface="Aptos"/>
              </a:defRPr>
            </a:pPr>
            <a:r>
              <a:t>Validation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526280"/>
            <a:ext cx="3657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39" y="4343400"/>
            <a:ext cx="2331720" cy="731520"/>
          </a:xfrm>
          <a:prstGeom prst="roundRect">
            <a:avLst/>
          </a:prstGeom>
          <a:solidFill>
            <a:srgbClr val="E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08591" y="4507992"/>
            <a:ext cx="21854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F3D2F"/>
                </a:solidFill>
                <a:latin typeface="Aptos"/>
              </a:defRPr>
            </a:pPr>
            <a:r>
              <a:t>Save best checkpoint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t>The notebook restores the best checkpoint before testing.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End-to-End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6928" y="2423160"/>
            <a:ext cx="1645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6517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27248"/>
            <a:ext cx="1463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303933"/>
                </a:solidFill>
                <a:latin typeface="Aptos"/>
              </a:defRPr>
            </a:pPr>
            <a:r>
              <a:t>Load labelled leaf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1136" y="2926080"/>
            <a:ext cx="274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2423160"/>
            <a:ext cx="1645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96896" y="26517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3127248"/>
            <a:ext cx="1463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303933"/>
                </a:solidFill>
                <a:latin typeface="Aptos"/>
              </a:defRPr>
            </a:pPr>
            <a:r>
              <a:t>Resize +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2926080"/>
            <a:ext cx="274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2423160"/>
            <a:ext cx="1645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26517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127248"/>
            <a:ext cx="1463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303933"/>
                </a:solidFill>
                <a:latin typeface="Aptos"/>
              </a:defRPr>
            </a:pPr>
            <a:r>
              <a:t>70 / 15 /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926080"/>
            <a:ext cx="274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423160"/>
            <a:ext cx="1645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6517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127248"/>
            <a:ext cx="1463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303933"/>
                </a:solidFill>
                <a:latin typeface="Aptos"/>
              </a:defRPr>
            </a:pPr>
            <a:r>
              <a:t>CNN + augmentation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926080"/>
            <a:ext cx="274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423160"/>
            <a:ext cx="1645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27248"/>
            <a:ext cx="1463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303933"/>
                </a:solidFill>
                <a:latin typeface="Aptos"/>
              </a:defRPr>
            </a:pPr>
            <a:r>
              <a:t>Test set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926080"/>
            <a:ext cx="274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37D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59568" y="2423160"/>
            <a:ext cx="1645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51008" y="2651760"/>
            <a:ext cx="1463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3D2F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8" y="3127248"/>
            <a:ext cx="14630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303933"/>
                </a:solidFill>
                <a:latin typeface="Aptos"/>
              </a:defRPr>
            </a:pPr>
            <a:r>
              <a:t>Model + class names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1014984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303933"/>
                </a:solidFill>
                <a:latin typeface="Aptos"/>
              </a:defRPr>
            </a:pPr>
            <a:r>
              <a:t>Prediction concept: a leaf image is preprocessed in the same way, passed through the trained CNN, and mapped to the class with the highest output score.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Evaluation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150876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929384"/>
            <a:ext cx="28529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86584"/>
            <a:ext cx="283464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303933"/>
                </a:solidFill>
                <a:latin typeface="Aptos"/>
              </a:defRPr>
            </a:pPr>
            <a:r>
              <a:t>87.58%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8308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783080"/>
            <a:ext cx="73152" cy="150876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929384"/>
            <a:ext cx="28529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Test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386584"/>
            <a:ext cx="283464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303933"/>
                </a:solidFill>
                <a:latin typeface="Aptos"/>
              </a:defRPr>
            </a:pPr>
            <a:r>
              <a:t>0.3896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83080"/>
            <a:ext cx="3200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783080"/>
            <a:ext cx="73152" cy="150876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929384"/>
            <a:ext cx="285292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Test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86584"/>
            <a:ext cx="283464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303933"/>
                </a:solidFill>
                <a:latin typeface="Aptos"/>
              </a:defRPr>
            </a:pPr>
            <a:r>
              <a:t>8,146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F3D2F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0241280" cy="155448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303933"/>
                </a:solidFill>
                <a:latin typeface="Aptos"/>
              </a:defRPr>
            </a:pPr>
            <a:r>
              <a:t>The model correctly classified about 87.58% of the held-out test images in the recorded notebook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Implementation &amp; Output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801368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plant_disease_model.keras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801368"/>
            <a:ext cx="5852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Saved trained CNN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49631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606040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class_names.json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606040"/>
            <a:ext cx="5852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Class names in prediction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3410712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accuracy_plot.png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410712"/>
            <a:ext cx="5852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Training vs. validation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05656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4215384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loss_plot.png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215384"/>
            <a:ext cx="5852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Training vs. validation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1032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5020056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F3D2F"/>
                </a:solidFill>
                <a:latin typeface="Aptos"/>
              </a:defRPr>
            </a:pPr>
            <a:r>
              <a:t>Plant_Disease_Project_Files.zip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020056"/>
            <a:ext cx="58521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303933"/>
                </a:solidFill>
                <a:latin typeface="Aptos"/>
              </a:defRPr>
            </a:pPr>
            <a:r>
              <a:t>ZIP package containing available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0584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47068"/>
                </a:solidFill>
                <a:latin typeface="Aptos"/>
              </a:defRPr>
            </a:pPr>
            <a:r>
              <a:t>These files can be integrated into a separate application; the notebook itself trains and exports the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73152" cy="150876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1929384"/>
            <a:ext cx="440740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Farm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386584"/>
            <a:ext cx="438912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Assist growers with an initial leaf-image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150876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929384"/>
            <a:ext cx="440740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Agricultural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86584"/>
            <a:ext cx="438912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Demonstrate plant disease categories and image classification.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49039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749039"/>
            <a:ext cx="73152" cy="150876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895344"/>
            <a:ext cx="440740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352544"/>
            <a:ext cx="438912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Create a baseline model for plant-health computer-vision experiments.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47548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73152" cy="150876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895344"/>
            <a:ext cx="440740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Digital agriculture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352544"/>
            <a:ext cx="4389120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Potential component in a mobile or web advisory tool.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068"/>
                </a:solidFill>
                <a:latin typeface="Aptos"/>
              </a:defRPr>
            </a:pPr>
            <a:r>
              <a:t>The model should support—not replace—expert diagnosis and field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73152" cy="425196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837944"/>
            <a:ext cx="481888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95144"/>
            <a:ext cx="4800600" cy="35387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Test accuracy is 87.58% in the recorded run.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Dataset images may not represent all real field conditions.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The notebook classifies images but does not provide treatment advice.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A deployed application and live camera workflow are not implemented in this notebook.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73152" cy="425196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837944"/>
            <a:ext cx="481888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95144"/>
            <a:ext cx="4800600" cy="35387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Improve generalization with field-collected images.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Review per-class precision/recall and a confusion matrix.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Add a simple upload interface for users.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Provide confidence scores and clear uncertainty warnings.</a:t>
            </a:r>
          </a:p>
          <a:p>
            <a:pPr>
              <a:spcAft>
                <a:spcPts val="800"/>
              </a:spcAft>
              <a:defRPr sz="1600" b="0">
                <a:solidFill>
                  <a:srgbClr val="303933"/>
                </a:solidFill>
                <a:latin typeface="Aptos"/>
              </a:defRPr>
            </a:pPr>
            <a:r>
              <a:t>• Validate recommendations with agricultural experts.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612648"/>
            <a:ext cx="109728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F3D2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777240" cy="50292"/>
          </a:xfrm>
          <a:prstGeom prst="rect">
            <a:avLst/>
          </a:prstGeom>
          <a:solidFill>
            <a:srgbClr val="B7D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987552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F3D2F"/>
                </a:solidFill>
                <a:latin typeface="Aptos"/>
              </a:defRPr>
            </a:pPr>
            <a:r>
              <a:t>This project demonstrates a complete CNN-based plant leaf image-classification workflow—from dataset preparation and augmentation to model training, test evaluation and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73152" cy="1234440"/>
          </a:xfrm>
          <a:prstGeom prst="rect">
            <a:avLst/>
          </a:prstGeom>
          <a:solidFill>
            <a:srgbClr val="43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3803904"/>
            <a:ext cx="27157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261104"/>
            <a:ext cx="269748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03933"/>
                </a:solidFill>
                <a:latin typeface="Aptos"/>
              </a:defRPr>
            </a:pPr>
            <a:r>
              <a:t>54,304 images • 38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6576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3657600"/>
            <a:ext cx="73152" cy="1234440"/>
          </a:xfrm>
          <a:prstGeom prst="rect">
            <a:avLst/>
          </a:prstGeom>
          <a:solidFill>
            <a:srgbClr val="DCA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3803904"/>
            <a:ext cx="27157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4261104"/>
            <a:ext cx="269748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03933"/>
                </a:solidFill>
                <a:latin typeface="Aptos"/>
              </a:defRPr>
            </a:pPr>
            <a:r>
              <a:t>CNN built with TensorFlow / Keras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6576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3657600"/>
            <a:ext cx="73152" cy="1234440"/>
          </a:xfrm>
          <a:prstGeom prst="rect">
            <a:avLst/>
          </a:prstGeom>
          <a:solidFill>
            <a:srgbClr val="B45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3803904"/>
            <a:ext cx="2715768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D2F"/>
                </a:solidFill>
                <a:latin typeface="Aptos"/>
              </a:defRPr>
            </a:pPr>
            <a:r>
              <a:t>Recorded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4261104"/>
            <a:ext cx="2697480" cy="5212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303933"/>
                </a:solidFill>
                <a:latin typeface="Aptos"/>
              </a:defRPr>
            </a:pPr>
            <a:r>
              <a:t>87.58% test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437D4E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3862" y="2589567"/>
            <a:ext cx="7772400" cy="134190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800"/>
              </a:spcAft>
              <a:defRPr sz="800" b="1">
                <a:solidFill>
                  <a:srgbClr val="647068"/>
                </a:solidFill>
                <a:latin typeface="Aptos"/>
              </a:defRPr>
            </a:pPr>
            <a:r>
              <a:rPr lang="en-US" sz="8000" dirty="0" smtClean="0">
                <a:solidFill>
                  <a:schemeClr val="accent3">
                    <a:lumMod val="75000"/>
                  </a:schemeClr>
                </a:solidFill>
              </a:rPr>
              <a:t>Thank You</a:t>
            </a:r>
            <a:endParaRPr sz="800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866</Words>
  <Application>Microsoft Macintosh PowerPoint</Application>
  <PresentationFormat>Custom</PresentationFormat>
  <Paragraphs>194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Care</cp:lastModifiedBy>
  <cp:revision>4</cp:revision>
  <dcterms:created xsi:type="dcterms:W3CDTF">2013-01-27T09:14:16Z</dcterms:created>
  <dcterms:modified xsi:type="dcterms:W3CDTF">2026-10-22T09:34:02Z</dcterms:modified>
  <cp:category/>
</cp:coreProperties>
</file>